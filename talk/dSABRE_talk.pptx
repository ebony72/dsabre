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This talk is about a compiler — specifically, about one decision a</a:t>
            </a:r>
          </a:p>
          <a:p>
            <a:r>
              <a:t>compiler has to make thousands of times when a quantum program runs on a machine</a:t>
            </a:r>
          </a:p>
          <a:p>
            <a:r>
              <a:t>built from several small quantum chips rather than one big one.</a:t>
            </a:r>
          </a:p>
          <a:p/>
          <a:p>
            <a:r>
              <a:t>I'm going to spend the first half of the talk on background, because the interesting</a:t>
            </a:r>
          </a:p>
          <a:p>
            <a:r>
              <a:t>part of the problem only makes sense once you know what a teleport actually costs.</a:t>
            </a:r>
          </a:p>
          <a:p>
            <a:r>
              <a:t>No quantum mechanics background is assumed. If you take one thing away: the expensive</a:t>
            </a:r>
          </a:p>
          <a:p>
            <a:r>
              <a:t>resource in a distributed quantum computer is entanglement, and the compiler decides</a:t>
            </a:r>
          </a:p>
          <a:p>
            <a:r>
              <a:t>how much of it you burn.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shape of the talk. Roughly the first ten minutes is background — qubits,</a:t>
            </a:r>
          </a:p>
          <a:p>
            <a:r>
              <a:t>circuits, what a compiler for a quantum computer actually does, and then teleportation</a:t>
            </a:r>
          </a:p>
          <a:p>
            <a:r>
              <a:t>in detail. The second half is the actual research.</a:t>
            </a:r>
          </a:p>
          <a:p/>
          <a:p>
            <a:r>
              <a:t>If you already know quantum computing, the part that will be new starts at the slide</a:t>
            </a:r>
          </a:p>
          <a:p>
            <a:r>
              <a:t>titled "A teleport is not just an expensive SWAP."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properties, and only three, are needed for the rest of the talk.</a:t>
            </a:r>
          </a:p>
          <a:p/>
          <a:p>
            <a:r>
              <a:t>Superposition is the one everyone has heard of. Entanglement is the one that matters</a:t>
            </a:r>
          </a:p>
          <a:p>
            <a:r>
              <a:t>most here — it is literally the resource we are going to be counting. And fragility is</a:t>
            </a:r>
          </a:p>
          <a:p>
            <a:r>
              <a:t>the reason the whole compilation problem exists: every extra operation degrades the</a:t>
            </a:r>
          </a:p>
          <a:p>
            <a:r>
              <a:t>answer, so a compiler that inserts fewer operations produces a better result on real</a:t>
            </a:r>
          </a:p>
          <a:p>
            <a:r>
              <a:t>hardware.</a:t>
            </a:r>
          </a:p>
          <a:p/>
          <a:p>
            <a:r>
              <a:t>Note the last point on the right: an unknown qubit cannot be copied. That is the</a:t>
            </a:r>
          </a:p>
          <a:p>
            <a:r>
              <a:t>no-cloning theorem, and it is why moving a qubit between chips is not as simple as</a:t>
            </a:r>
          </a:p>
          <a:p>
            <a:r>
              <a:t>copying a file across a network. Remember it for the teleportation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vocabulary. A quantum circuit is drawn like sheet music — one horizontal</a:t>
            </a:r>
          </a:p>
          <a:p>
            <a:r>
              <a:t>wire per qubit, boxes for operations. Universality means you don't need many kinds of</a:t>
            </a:r>
          </a:p>
          <a:p>
            <a:r>
              <a:t>box: arbitrary one-qubit rotations plus the two-qubit CX gate can build anything.</a:t>
            </a:r>
          </a:p>
          <a:p/>
          <a:p>
            <a:r>
              <a:t>Right: how the compiler sees it. Strip out the drawing and what remains is a</a:t>
            </a:r>
          </a:p>
          <a:p>
            <a:r>
              <a:t>dependency graph — a DAG. g3 acts on qubits 2 and 3, so it has to wait for the two</a:t>
            </a:r>
          </a:p>
          <a:p>
            <a:r>
              <a:t>gates that touch those qubits.</a:t>
            </a:r>
          </a:p>
          <a:p/>
          <a:p>
            <a:r>
              <a:t>The front layer, in blue, is the set of gates that are ready now. Every routing</a:t>
            </a:r>
          </a:p>
          <a:p>
            <a:r>
              <a:t>decision in this talk is scored by how much it helps the front layer. Keep that in</a:t>
            </a:r>
          </a:p>
          <a:p>
            <a:r>
              <a:t>mind — it is the one idea the entire algorithm is built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problem the whole field of qubit routing exists to solve.</a:t>
            </a:r>
          </a:p>
          <a:p/>
          <a:p>
            <a:r>
              <a:t>A chip has a fixed wiring pattern — here a four-by-four grid. A two-qubit gate is</a:t>
            </a:r>
          </a:p>
          <a:p>
            <a:r>
              <a:t>physically possible only between qubits that are wired together. So when the program</a:t>
            </a:r>
          </a:p>
          <a:p>
            <a:r>
              <a:t>asks for a gate between two qubits that are three hops apart, the compiler has to</a:t>
            </a:r>
          </a:p>
          <a:p>
            <a:r>
              <a:t>physically shuffle them together first, using SWAP operations.</a:t>
            </a:r>
          </a:p>
          <a:p/>
          <a:p>
            <a:r>
              <a:t>Two things to notice. First, a SWAP is not free: it compiles down to three CX gates,</a:t>
            </a:r>
          </a:p>
          <a:p>
            <a:r>
              <a:t>each of which adds noise. Second, none of this work is in the user's program — it is</a:t>
            </a:r>
          </a:p>
          <a:p>
            <a:r>
              <a:t>pure overhead introduced by the mismatch between the program and the hardware.</a:t>
            </a:r>
          </a:p>
          <a:p>
            <a:r>
              <a:t>Minimising it is the compiler's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SABRE is the incumbent. It was published in 2019 and it is what Qiskit runs by</a:t>
            </a:r>
          </a:p>
          <a:p>
            <a:r>
              <a:t>default, so in practice it is the routing algorithm for superconducting quantum</a:t>
            </a:r>
          </a:p>
          <a:p>
            <a:r>
              <a:t>computers.</a:t>
            </a:r>
          </a:p>
          <a:p/>
          <a:p>
            <a:r>
              <a:t>The rule is greedy and almost embarrassingly simple, which is exactly why it works at</a:t>
            </a:r>
          </a:p>
          <a:p>
            <a:r>
              <a:t>scale: score each candidate SWAP by how much it reduces the total distance of the</a:t>
            </a:r>
          </a:p>
          <a:p>
            <a:r>
              <a:t>gates that are ready to run, add a discounted lookahead term so you don't get trapped,</a:t>
            </a:r>
          </a:p>
          <a:p>
            <a:r>
              <a:t>take the best one, repeat.</a:t>
            </a:r>
          </a:p>
          <a:p/>
          <a:p>
            <a:r>
              <a:t>The box on the right is the whole heuristic in words. And the question at the bottom</a:t>
            </a:r>
          </a:p>
          <a:p>
            <a:r>
              <a:t>is this paper's question: that score is designed for one chip. What does it have to</a:t>
            </a:r>
          </a:p>
          <a:p>
            <a:r>
              <a:t>become when the machine is several chips connected by entanglement links?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is going to build a million-qubit chip. Yield kills you: the larger the die,</a:t>
            </a:r>
          </a:p>
          <a:p>
            <a:r>
              <a:t>the higher the chance that one qubit on it is defective, and then you throw the whole</a:t>
            </a:r>
          </a:p>
          <a:p>
            <a:r>
              <a:t>thing away. Crosstalk gets worse with density. And every single qubit needs physical</a:t>
            </a:r>
          </a:p>
          <a:p>
            <a:r>
              <a:t>control wiring going down into a refrigerator running at ten millikelvin — there is</a:t>
            </a:r>
          </a:p>
          <a:p>
            <a:r>
              <a:t>simply not enough space.</a:t>
            </a:r>
          </a:p>
          <a:p/>
          <a:p>
            <a:r>
              <a:t>So the roadmaps — IBM's, and essentially everyone else's — go modular: build small,</a:t>
            </a:r>
          </a:p>
          <a:p>
            <a:r>
              <a:t>good chips and connect them.</a:t>
            </a:r>
          </a:p>
          <a:p/>
          <a:p>
            <a:r>
              <a:t>The picture shows the two machines used in this paper. Call each small chip a "core."</a:t>
            </a:r>
          </a:p>
          <a:p>
            <a:r>
              <a:t>The grey dots are ordinary qubits. The teal dots are communication ports — special</a:t>
            </a:r>
          </a:p>
          <a:p>
            <a:r>
              <a:t>positions that an entanglement link attaches to. Note that a port is still an ordinary</a:t>
            </a:r>
          </a:p>
          <a:p>
            <a:r>
              <a:t>qubit that can hold data when it isn't being used to communicate. That detail turns</a:t>
            </a:r>
          </a:p>
          <a:p>
            <a:r>
              <a:t>out to matter a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central object. An EPR pair — named after Einstein, Podolsky and Rosen — is</a:t>
            </a:r>
          </a:p>
          <a:p>
            <a:r>
              <a:t>two qubits prepared together so they're entangled, then separated, with one half</a:t>
            </a:r>
          </a:p>
          <a:p>
            <a:r>
              <a:t>sitting in each of two chips.</a:t>
            </a:r>
          </a:p>
          <a:p/>
          <a:p>
            <a:r>
              <a:t>By itself it carries no message. Think of it as fuel, or as a ticket: it enables one</a:t>
            </a:r>
          </a:p>
          <a:p>
            <a:r>
              <a:t>operation that the two chips could not otherwise perform, and then it is used up.</a:t>
            </a:r>
          </a:p>
          <a:p/>
          <a:p>
            <a:r>
              <a:t>The three boxes on the right are why we care. On today's hardware, generating</a:t>
            </a:r>
          </a:p>
          <a:p>
            <a:r>
              <a:t>entanglement between two modules is slow — orders of magnitude slower than a local</a:t>
            </a:r>
          </a:p>
          <a:p>
            <a:r>
              <a:t>gate — it's the noisiest operation on the machine, and the link produces pairs at a</a:t>
            </a:r>
          </a:p>
          <a:p>
            <a:r>
              <a:t>fixed rate you can't exceed.</a:t>
            </a:r>
          </a:p>
          <a:p/>
          <a:p>
            <a:r>
              <a:t>That's what makes this a well-posed compiler problem: there is one clearly dominant</a:t>
            </a:r>
          </a:p>
          <a:p>
            <a:r>
              <a:t>cost, and the compiler controls how much of it you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teleportation, which despite the name is an entirely ordinary piece of physics</a:t>
            </a:r>
          </a:p>
          <a:p>
            <a:r>
              <a:t>and is done routinely in laboratories.</a:t>
            </a:r>
          </a:p>
          <a:p/>
          <a:p>
            <a:r>
              <a:t>The problem it solves: you cannot copy an unknown qubit, and you cannot send one down</a:t>
            </a:r>
          </a:p>
          <a:p>
            <a:r>
              <a:t>a wire. So how do you move a quantum state from chip A to chip B?</a:t>
            </a:r>
          </a:p>
          <a:p/>
          <a:p>
            <a:r>
              <a:t>Step one: make an EPR pair and separate it, half in each chip. Step two: the sender</a:t>
            </a:r>
          </a:p>
          <a:p>
            <a:r>
              <a:t>performs a joint measurement on the qubit it wants to send, together with its half of</a:t>
            </a:r>
          </a:p>
          <a:p>
            <a:r>
              <a:t>the pair. This destroys the original — that is essential, it's what keeps no-cloning</a:t>
            </a:r>
          </a:p>
          <a:p>
            <a:r>
              <a:t>intact — and produces two ordinary classical bits. Step three: those two bits are sent</a:t>
            </a:r>
          </a:p>
          <a:p>
            <a:r>
              <a:t>over a normal classical wire, and they tell the receiver which of four small</a:t>
            </a:r>
          </a:p>
          <a:p>
            <a:r>
              <a:t>corrections to apply. Apply it, and the state is now sitting in chip B.</a:t>
            </a:r>
          </a:p>
          <a:p/>
          <a:p>
            <a:r>
              <a:t>Two things people usually ask. No, this is not faster than light: the classical bits</a:t>
            </a:r>
          </a:p>
          <a:p>
            <a:r>
              <a:t>travel at ordinary speed and nothing happens until they arrive. And no, there is never</a:t>
            </a:r>
          </a:p>
          <a:p>
            <a:r>
              <a:t>a moment when two copies exist — the original is gone before the new one appears.</a:t>
            </a:r>
          </a:p>
          <a:p/>
          <a:p>
            <a:r>
              <a:t>For our purposes, the accounting is what matters: one teleport consumes exactly one</a:t>
            </a:r>
          </a:p>
          <a:p>
            <a:r>
              <a:t>EPR pair, plus whatever local shuffling was needed to get the qubit to a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two ways to cash in an EPR pair, and the distinction matters for reading the</a:t>
            </a:r>
          </a:p>
          <a:p>
            <a:r>
              <a:t>results later.</a:t>
            </a:r>
          </a:p>
          <a:p/>
          <a:p>
            <a:r>
              <a:t>Teledata is what I just showed: move the qubit itself. The pair is spent immediately,</a:t>
            </a:r>
          </a:p>
          <a:p>
            <a:r>
              <a:t>and afterwards the qubit is simply in the other chip — everything it does next is</a:t>
            </a:r>
          </a:p>
          <a:p>
            <a:r>
              <a:t>local and free. So one pair can amortise over a long run of subsequent gates.</a:t>
            </a:r>
          </a:p>
          <a:p/>
          <a:p>
            <a:r>
              <a:t>Telegate does the opposite: it executes a remote two-qubit gate without moving either</a:t>
            </a:r>
          </a:p>
          <a:p>
            <a:r>
              <a:t>qubit. Its attraction is that if you have a whole group of remote gates that fit</a:t>
            </a:r>
          </a:p>
          <a:p>
            <a:r>
              <a:t>together, one entangled state can serve all of them. But that requires holding live</a:t>
            </a:r>
          </a:p>
          <a:p>
            <a:r>
              <a:t>entanglement in memory for the duration of the group, which needs both a spare link</a:t>
            </a:r>
          </a:p>
          <a:p>
            <a:r>
              <a:t>qubit and entanglement that survives that long.</a:t>
            </a:r>
          </a:p>
          <a:p/>
          <a:p>
            <a:r>
              <a:t>The bottom box is the measurement that justifies the paper's scope. On this benchmark</a:t>
            </a:r>
          </a:p>
          <a:p>
            <a:r>
              <a:t>suite, a single teledata move ends up serving nearly sixteen of that qubit's gates on</a:t>
            </a:r>
          </a:p>
          <a:p>
            <a:r>
              <a:t>average. An ungrouped telegate serves exactly one. We actually implemented telegate</a:t>
            </a:r>
          </a:p>
          <a:p>
            <a:r>
              <a:t>and let it compete — it cost 93.5% more EPR. So telegate only earns its place in</a:t>
            </a:r>
          </a:p>
          <a:p>
            <a:r>
              <a:t>grouped form, which is a genuinely different compilation problem, and we say so</a:t>
            </a:r>
          </a:p>
          <a:p>
            <a:r>
              <a:t>rather than claiming teledata dominates.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conceptual heart of the paper, so let me be slow about it.</a:t>
            </a:r>
          </a:p>
          <a:p/>
          <a:p>
            <a:r>
              <a:t>The obvious thing to do is take SABRE, which already knows how to score moves by</a:t>
            </a:r>
          </a:p>
          <a:p>
            <a:r>
              <a:t>distance, and just declare that cross-chip edges are expensive — weight ten instead of</a:t>
            </a:r>
          </a:p>
          <a:p>
            <a:r>
              <a:t>weight one. Then a teleport is "a SWAP on a costly edge" and nothing else has to</a:t>
            </a:r>
          </a:p>
          <a:p>
            <a:r>
              <a:t>change.</a:t>
            </a:r>
          </a:p>
          <a:p/>
          <a:p>
            <a:r>
              <a:t>That is wrong in three specific ways, all on the right-hand panel.</a:t>
            </a:r>
          </a:p>
          <a:p/>
          <a:p>
            <a:r>
              <a:t>One: a SWAP is symmetric — do it twice and you're back where you started, at the same</a:t>
            </a:r>
          </a:p>
          <a:p>
            <a:r>
              <a:t>price. A teleport is one-way. Getting the qubit back costs a second EPR pair.</a:t>
            </a:r>
          </a:p>
          <a:p/>
          <a:p>
            <a:r>
              <a:t>Two: a SWAP is legal between any two adjacent qubits. A teleport is legal only from a</a:t>
            </a:r>
          </a:p>
          <a:p>
            <a:r>
              <a:t>communication port — so before you can teleport at all, you may have to shuffle the</a:t>
            </a:r>
          </a:p>
          <a:p>
            <a:r>
              <a:t>qubit across the chip to reach a port, and evict whatever data qubit is currently</a:t>
            </a:r>
          </a:p>
          <a:p>
            <a:r>
              <a:t>parked on it.</a:t>
            </a:r>
          </a:p>
          <a:p/>
          <a:p>
            <a:r>
              <a:t>Three, and this is the one nobody else models: a SWAP leaves each chip's occupancy</a:t>
            </a:r>
          </a:p>
          <a:p>
            <a:r>
              <a:t>exactly as it was. A teleport permanently moves a qubit from one chip to another, so</a:t>
            </a:r>
          </a:p>
          <a:p>
            <a:r>
              <a:t>the destination has one fewer free seat than before. Do that enough times and the</a:t>
            </a:r>
          </a:p>
          <a:p>
            <a:r>
              <a:t>destination fills up.</a:t>
            </a:r>
          </a:p>
          <a:p/>
          <a:p>
            <a:r>
              <a:t>An edge weight cannot express any of these. They aren't costs of an edge, they are</a:t>
            </a:r>
          </a:p>
          <a:p>
            <a:r>
              <a:t>consequences for the state of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occupancy issue isn't a footnote. It creates an actual deadlock.</a:t>
            </a:r>
          </a:p>
          <a:p/>
          <a:p>
            <a:r>
              <a:t>Follow the three boxes. Teleports only ever move qubits one way, so a chip that</a:t>
            </a:r>
          </a:p>
          <a:p>
            <a:r>
              <a:t>receives more than it sends fills up. Once it is full, some data qubit is necessarily</a:t>
            </a:r>
          </a:p>
          <a:p>
            <a:r>
              <a:t>sitting on the communication port, because the port is just an ordinary qubit</a:t>
            </a:r>
          </a:p>
          <a:p>
            <a:r>
              <a:t>position. And now you're stuck: to use the port you must move its occupant, but there</a:t>
            </a:r>
          </a:p>
          <a:p>
            <a:r>
              <a:t>is no free seat to move it into. Gates are still waiting, and no legal move exists.</a:t>
            </a:r>
          </a:p>
          <a:p/>
          <a:p>
            <a:r>
              <a:t>This is not a hypothetical failure. TeleSABRE, the strongest prior router in this</a:t>
            </a:r>
          </a:p>
          <a:p>
            <a:r>
              <a:t>setting and our main baseline, reports exactly this failure mode in its own paper and</a:t>
            </a:r>
          </a:p>
          <a:p>
            <a:r>
              <a:t>explicitly leaves a fix to future work. In our experiments it returns nothing at all</a:t>
            </a:r>
          </a:p>
          <a:p>
            <a:r>
              <a:t>on five of the forty-five instances.</a:t>
            </a:r>
          </a:p>
          <a:p/>
          <a:p>
            <a:r>
              <a:t>So the requirement list for a distributed router has two entries a single-chip router</a:t>
            </a:r>
          </a:p>
          <a:p>
            <a:r>
              <a:t>has never needed: it must know how full each chip is while it is choosing, and it must</a:t>
            </a:r>
          </a:p>
          <a:p>
            <a:r>
              <a:t>have a guaranteed way out when it gets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algorithm's core idea, in three pieces plus one structural decision.</a:t>
            </a:r>
          </a:p>
          <a:p/>
          <a:p>
            <a:r>
              <a:t>Rather than pricing a cross-chip hop, dSABRE bundles the entire sequence — walk the</a:t>
            </a:r>
          </a:p>
          <a:p>
            <a:r>
              <a:t>qubit to a port, evict whatever data qubit is sitting on the port, teleport — and</a:t>
            </a:r>
          </a:p>
          <a:p>
            <a:r>
              <a:t>scores that whole bundle as one macro-action.</a:t>
            </a:r>
          </a:p>
          <a:p/>
          <a:p>
            <a:r>
              <a:t>The score has three parts, and they map exactly onto the three differences from the</a:t>
            </a:r>
          </a:p>
          <a:p>
            <a:r>
              <a:t>previous slide. What it costs to set up is the staging and eviction — that's the "you</a:t>
            </a:r>
          </a:p>
          <a:p>
            <a:r>
              <a:t>need a port" problem. What it costs in room is a penalty that grows as the destination</a:t>
            </a:r>
          </a:p>
          <a:p>
            <a:r>
              <a:t>fills — that's the occupancy problem. What it buys is classic SABRE: distance progress</a:t>
            </a:r>
          </a:p>
          <a:p>
            <a:r>
              <a:t>on the waiting gate, plus discounted lookahead.</a:t>
            </a:r>
          </a:p>
          <a:p/>
          <a:p>
            <a:r>
              <a:t>Now the part I'd emphasise, in the dark box. Capacity appears twice in this design and</a:t>
            </a:r>
          </a:p>
          <a:p>
            <a:r>
              <a:t>the separation is deliberate. The penalty is a soft term that ranks moves — and like</a:t>
            </a:r>
          </a:p>
          <a:p>
            <a:r>
              <a:t>any weight it can be outvoted, if some move offers a large enough gain. So the penalty</a:t>
            </a:r>
          </a:p>
          <a:p>
            <a:r>
              <a:t>alone cannot guarantee anything. Separately there is a hard floor applied when</a:t>
            </a:r>
          </a:p>
          <a:p>
            <a:r>
              <a:t>candidates are generated: a teleport into a chip with fewer than two free seats is</a:t>
            </a:r>
          </a:p>
          <a:p>
            <a:r>
              <a:t>never offered, at any price.</a:t>
            </a:r>
          </a:p>
          <a:p/>
          <a:p>
            <a:r>
              <a:t>Ranking and legality are different jobs. Keeping them apart is what lets us prove the</a:t>
            </a:r>
          </a:p>
          <a:p>
            <a:r>
              <a:t>router always finishes — and, as the ablation will show, it's also worth a lot in</a:t>
            </a:r>
          </a:p>
          <a:p>
            <a:r>
              <a:t>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watch the score actually decide something, because this example isolates each</a:t>
            </a:r>
          </a:p>
          <a:p>
            <a:r>
              <a:t>term.</a:t>
            </a:r>
          </a:p>
          <a:p/>
          <a:p>
            <a:r>
              <a:t>Situation: a gate is waiting between q1, sitting in chip C1, and q2, over in C5. Three</a:t>
            </a:r>
          </a:p>
          <a:p>
            <a:r>
              <a:t>entanglement links leave C1, so there are three candidate teleports. The table gives</a:t>
            </a:r>
          </a:p>
          <a:p>
            <a:r>
              <a:t>the three score components for each.</a:t>
            </a:r>
          </a:p>
          <a:p/>
          <a:p>
            <a:r>
              <a:t>Candidate A goes towards the target and costs one local SWAP to stage. Progress is</a:t>
            </a:r>
          </a:p>
          <a:p>
            <a:r>
              <a:t>minus twelve — remember negative is good — so it scores minus eleven.</a:t>
            </a:r>
          </a:p>
          <a:p/>
          <a:p>
            <a:r>
              <a:t>Candidate B goes the wrong way. Its progress term is positive eleven, actively worse,</a:t>
            </a:r>
          </a:p>
          <a:p>
            <a:r>
              <a:t>so it scores plus thirteen and is out.</a:t>
            </a:r>
          </a:p>
          <a:p/>
          <a:p>
            <a:r>
              <a:t>Candidate C is the interesting one. It moves towards the target and buys exactly the</a:t>
            </a:r>
          </a:p>
          <a:p>
            <a:r>
              <a:t>same progress as A — minus twelve, identical. If you scored only by distance, A and C</a:t>
            </a:r>
          </a:p>
          <a:p>
            <a:r>
              <a:t>would be nearly tied. But C lands in a chip with only two free seats, so the room term</a:t>
            </a:r>
          </a:p>
          <a:p>
            <a:r>
              <a:t>adds fifteen, and it also has an occupied port to evacuate. Final score: plus six.</a:t>
            </a:r>
          </a:p>
          <a:p/>
          <a:p>
            <a:r>
              <a:t>The capacity term, on its own, flips the decision. That's the mechanism working — and</a:t>
            </a:r>
          </a:p>
          <a:p>
            <a:r>
              <a:t>the ablation later shows it's worth about nine percent across the whole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itself, in four steps.</a:t>
            </a:r>
          </a:p>
          <a:p/>
          <a:p>
            <a:r>
              <a:t>P1: run everything that can already run. Free progress, always take it first.</a:t>
            </a:r>
          </a:p>
          <a:p/>
          <a:p>
            <a:r>
              <a:t>P2: look at what's left and split it — gates whose two qubits are on the same chip and</a:t>
            </a:r>
          </a:p>
          <a:p>
            <a:r>
              <a:t>just need shuffling, versus gates whose qubits are on different chips.</a:t>
            </a:r>
          </a:p>
          <a:p/>
          <a:p>
            <a:r>
              <a:t>P3 is a priority rule worth pausing on. dSABRE will not even score a teleport while</a:t>
            </a:r>
          </a:p>
          <a:p>
            <a:r>
              <a:t>any same-chip gate is still waiting. The reasoning: a SWAP is unconditionally cheaper</a:t>
            </a:r>
          </a:p>
          <a:p>
            <a:r>
              <a:t>than an EPR pair, so spending a pair while local work is outstanding means you've</a:t>
            </a:r>
          </a:p>
          <a:p>
            <a:r>
              <a:t>imposed some arbitrary exchange rate between the two. We measured the baseline here:</a:t>
            </a:r>
          </a:p>
          <a:p>
            <a:r>
              <a:t>under TeleSABRE's pooled scoring, 59.5% of its cross-chip operations fire while a</a:t>
            </a:r>
          </a:p>
          <a:p>
            <a:r>
              <a:t>same-chip gate is still waiting.</a:t>
            </a:r>
          </a:p>
          <a:p/>
          <a:p>
            <a:r>
              <a:t>P4 is the safety net. Every time the remaining circuit gets smaller, we snapshot the</a:t>
            </a:r>
          </a:p>
          <a:p>
            <a:r>
              <a:t>state. If enough iterations go by with no progress at all, we roll back to that</a:t>
            </a:r>
          </a:p>
          <a:p>
            <a:r>
              <a:t>snapshot and invoke the recovery procedure — which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completion guarantee, and it comes from three rules rather than anything</a:t>
            </a:r>
          </a:p>
          <a:p>
            <a:r>
              <a:t>clever.</a:t>
            </a:r>
          </a:p>
          <a:p/>
          <a:p>
            <a:r>
              <a:t>Rule one is the legality floor. A teleport is generated only if the destination has at</a:t>
            </a:r>
          </a:p>
          <a:p>
            <a:r>
              <a:t>least two free seats. Why two? One is consumed by the arrival. The second guarantees</a:t>
            </a:r>
          </a:p>
          <a:p>
            <a:r>
              <a:t>the chip is never left completely full, which in turn guarantees that its</a:t>
            </a:r>
          </a:p>
          <a:p>
            <a:r>
              <a:t>communication port can always be cleared later. That's the deadlock from earlier,</a:t>
            </a:r>
          </a:p>
          <a:p>
            <a:r>
              <a:t>closed off at the source.</a:t>
            </a:r>
          </a:p>
          <a:p/>
          <a:p>
            <a:r>
              <a:t>Rule two makes the condition true at the start: the initial placement deliberately</a:t>
            </a:r>
          </a:p>
          <a:p>
            <a:r>
              <a:t>holds back seats in every chip, so we begin in a good state rather than hoping for one.</a:t>
            </a:r>
          </a:p>
          <a:p/>
          <a:p>
            <a:r>
              <a:t>Rule three is the fallback. If the loop stalls anyway, a bounded transaction relays a</a:t>
            </a:r>
          </a:p>
          <a:p>
            <a:r>
              <a:t>free seat over from a chip that has one to spare, walks one of the two waiting qubits</a:t>
            </a:r>
          </a:p>
          <a:p>
            <a:r>
              <a:t>to meet the other, and executes the gate. It's transactional: it either completes or</a:t>
            </a:r>
          </a:p>
          <a:p>
            <a:r>
              <a:t>leaves the state untouched.</a:t>
            </a:r>
          </a:p>
          <a:p/>
          <a:p>
            <a:r>
              <a:t>Put together, the theorem says dSABRE routes every gate and never aborts, under</a:t>
            </a:r>
          </a:p>
          <a:p>
            <a:r>
              <a:t>conditions you can check before you start compiling. The conditions are loose — the</a:t>
            </a:r>
          </a:p>
          <a:p>
            <a:r>
              <a:t>tightest instance in the paper has thirty-two spare seats where thirteen would do.</a:t>
            </a:r>
          </a:p>
          <a:p/>
          <a:p>
            <a:r>
              <a:t>And I want to be honest about what this buys in practice, in the teal box: on the</a:t>
            </a:r>
          </a:p>
          <a:p>
            <a:r>
              <a:t>small and medium instances recovery never fires at all. It's insurance. It starts</a:t>
            </a:r>
          </a:p>
          <a:p>
            <a:r>
              <a:t>mattering at scale — sixty-six gates at three hundred and sixty qubits.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headline. Across five different device-and-workload settings, dSABRE uses between</a:t>
            </a:r>
          </a:p>
          <a:p>
            <a:r>
              <a:t>forty-one and sixty-two percent fewer EPR pairs than TeleSABRE, the strongest prior</a:t>
            </a:r>
          </a:p>
          <a:p>
            <a:r>
              <a:t>router in this setting.</a:t>
            </a:r>
          </a:p>
          <a:p/>
          <a:p>
            <a:r>
              <a:t>A few words on why this is a fair comparison, because "we beat the baseline" claims in</a:t>
            </a:r>
          </a:p>
          <a:p>
            <a:r>
              <a:t>this area are often not. TeleSABRE uses the same communication primitive we do —</a:t>
            </a:r>
          </a:p>
          <a:p>
            <a:r>
              <a:t>teledata — counts local SWAPs the same way, and we run it on its own benchmark</a:t>
            </a:r>
          </a:p>
          <a:p>
            <a:r>
              <a:t>topologies. Both routers report best-of-three seeds, which is standard use for both.</a:t>
            </a:r>
          </a:p>
          <a:p>
            <a:r>
              <a:t>And if you take the median seed instead of the best, the reductions are fifty, sixty</a:t>
            </a:r>
          </a:p>
          <a:p>
            <a:r>
              <a:t>and forty-three percent — so this isn't an artefact of the best-of-N convention.</a:t>
            </a:r>
          </a:p>
          <a:p/>
          <a:p>
            <a:r>
              <a:t>The bottom two bars are worth pointing out. Those are networks of IBM heavy-hex chips</a:t>
            </a:r>
          </a:p>
          <a:p>
            <a:r>
              <a:t>— completely irregular, with dangling leaf qubits and, in the star case, a hub that</a:t>
            </a:r>
          </a:p>
          <a:p>
            <a:r>
              <a:t>every cross-chip route has to pass through. Nothing in the algorithm is specialised</a:t>
            </a:r>
          </a:p>
          <a:p>
            <a:r>
              <a:t>for them; the seat-reservation logic just reads vertex degree, so it picks leaves</a:t>
            </a:r>
          </a:p>
          <a:p>
            <a:r>
              <a:t>where it picked grid corners. The result carries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Averages can hide a lot, so here is every circuit in the largest suite, both routers,</a:t>
            </a:r>
          </a:p>
          <a:p>
            <a:r>
              <a:t>on a log scale because the circuits span three orders of magnitude in size.</a:t>
            </a:r>
          </a:p>
          <a:p/>
          <a:p>
            <a:r>
              <a:t>dSABRE is lower on every single circuit both routers complete. The margin varies —</a:t>
            </a:r>
          </a:p>
          <a:p>
            <a:r>
              <a:t>biggest on the structured circuits like GHZ and Graphstate where good placement pays</a:t>
            </a:r>
          </a:p>
          <a:p>
            <a:r>
              <a:t>off enormously, smallest on Multiplier, which at thirteen thousand CX gates is dense</a:t>
            </a:r>
          </a:p>
          <a:p>
            <a:r>
              <a:t>enough that there isn't much room to be clever.</a:t>
            </a:r>
          </a:p>
          <a:p/>
          <a:p>
            <a:r>
              <a:t>The rightmost column is the one I'd actually highlight. On the Random circuit,</a:t>
            </a:r>
          </a:p>
          <a:p>
            <a:r>
              <a:t>TeleSABRE returns nothing — all three seeds exhaust its internal attempt limit at its</a:t>
            </a:r>
          </a:p>
          <a:p>
            <a:r>
              <a:t>own deadlock criterion, well inside the time budget. That's its own verdict, not a</a:t>
            </a:r>
          </a:p>
          <a:p>
            <a:r>
              <a:t>timeout we imposed. dSABRE routes it with 732 pairs.</a:t>
            </a:r>
          </a:p>
          <a:p/>
          <a:p>
            <a:r>
              <a:t>That distinction matters for a compiler. Using fewer pairs is a quantitative</a:t>
            </a:r>
          </a:p>
          <a:p>
            <a:r>
              <a:t>improvement you can average. Returning an answer at all is not something you can</a:t>
            </a:r>
          </a:p>
          <a:p>
            <a:r>
              <a:t>average — you either compile the program or you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Scaling. We take two circuit families and grow them — a hundred, two hundred, three</a:t>
            </a:r>
          </a:p>
          <a:p>
            <a:r>
              <a:t>hundred and sixty logical qubits, on six, twelve and twenty chips respectively, so</a:t>
            </a:r>
          </a:p>
          <a:p>
            <a:r>
              <a:t>that occupancy stays roughly constant.</a:t>
            </a:r>
          </a:p>
          <a:p/>
          <a:p>
            <a:r>
              <a:t>The dashed red boxes are where TeleSABRE returns nothing. It manages both families at</a:t>
            </a:r>
          </a:p>
          <a:p>
            <a:r>
              <a:t>a hundred qubits, one of them at two hundred, and neither at three hundred and sixty.</a:t>
            </a:r>
          </a:p>
          <a:p>
            <a:r>
              <a:t>dSABRE completes all six.</a:t>
            </a:r>
          </a:p>
          <a:p/>
          <a:p>
            <a:r>
              <a:t>I want to be careful here: this is evidence that dSABRE keeps working, not a claim</a:t>
            </a:r>
          </a:p>
          <a:p>
            <a:r>
              <a:t>about why the baseline stops. Its non-convergence could be search behaviour or an</a:t>
            </a:r>
          </a:p>
          <a:p>
            <a:r>
              <a:t>implementation limit, and we don't attribute it to capacity handling.</a:t>
            </a:r>
          </a:p>
          <a:p/>
          <a:p>
            <a:r>
              <a:t>The right panel is completion over the whole evaluation: forty-five out of forty-five</a:t>
            </a:r>
          </a:p>
          <a:p>
            <a:r>
              <a:t>against forty.</a:t>
            </a:r>
          </a:p>
          <a:p/>
          <a:p>
            <a:r>
              <a:t>And the compile times at the bottom. Forty-eight seconds for a three-hundred-and-sixty</a:t>
            </a:r>
          </a:p>
          <a:p>
            <a:r>
              <a:t>qubit QFT. At sixty-four qubits, a geometric mean of 1.9 seconds against the</a:t>
            </a:r>
          </a:p>
          <a:p>
            <a:r>
              <a:t>baseline's 4.7 — and I should stress the handicap there runs the wrong way: dSABRE is</a:t>
            </a:r>
          </a:p>
          <a:p>
            <a:r>
              <a:t>pure Python and TeleSABRE is compiled C++. Compile time grows very close to linearly</a:t>
            </a:r>
          </a:p>
          <a:p>
            <a:r>
              <a:t>in gate count for a fixed device — the fitted exponent is 0.97.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Ablations, because "our system is better" is not an explanation.</a:t>
            </a:r>
          </a:p>
          <a:p/>
          <a:p>
            <a:r>
              <a:t>The depth-ordered lookahead — expanding the set of upcoming gates breadth-first rather</a:t>
            </a:r>
          </a:p>
          <a:p>
            <a:r>
              <a:t>than in topological order, so that "how far ahead" actually means something — is worth</a:t>
            </a:r>
          </a:p>
          <a:p>
            <a:r>
              <a:t>about twelve percent.</a:t>
            </a:r>
          </a:p>
          <a:p/>
          <a:p>
            <a:r>
              <a:t>The capacity penalty is worth about nine.</a:t>
            </a:r>
          </a:p>
          <a:p/>
          <a:p>
            <a:r>
              <a:t>Now look at the interesting pair. Removing the hard legality floor on its own costs</a:t>
            </a:r>
          </a:p>
          <a:p>
            <a:r>
              <a:t>almost nothing: two-tenths of a percent. Removing the capacity penalty on its own</a:t>
            </a:r>
          </a:p>
          <a:p>
            <a:r>
              <a:t>costs nine. But removing both costs eighty-eight percent, and two circuits stop</a:t>
            </a:r>
          </a:p>
          <a:p>
            <a:r>
              <a:t>finishing entirely.</a:t>
            </a:r>
          </a:p>
          <a:p/>
          <a:p>
            <a:r>
              <a:t>That's not additive, and the reason is that the two mechanisms are substitutes. The</a:t>
            </a:r>
          </a:p>
          <a:p>
            <a:r>
              <a:t>penalised band — destination running low on seats — contains the forbidden band. So</a:t>
            </a:r>
          </a:p>
          <a:p>
            <a:r>
              <a:t>while the soft penalty is present, the router rarely proposes an illegal landing in</a:t>
            </a:r>
          </a:p>
          <a:p>
            <a:r>
              <a:t>the first place, and the floor has little left to do.</a:t>
            </a:r>
          </a:p>
          <a:p/>
          <a:p>
            <a:r>
              <a:t>I want to flag what that does and does not license. It does not mean you can drop the</a:t>
            </a:r>
          </a:p>
          <a:p>
            <a:r>
              <a:t>floor. A penalty, however heavy, can be outvoted by a large enough progress term; an</a:t>
            </a:r>
          </a:p>
          <a:p>
            <a:r>
              <a:t>admission test cannot. The theorem needs the floor on every teleport. What the number</a:t>
            </a:r>
          </a:p>
          <a:p>
            <a:r>
              <a:t>shows is that on these instances the mechanisms cover for each other — and that</a:t>
            </a:r>
          </a:p>
          <a:p>
            <a:r>
              <a:t>capacity handling as a whole is the single most valuable thing in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spend a moment here rather than skip to the conclusion, because comparing</a:t>
            </a:r>
          </a:p>
          <a:p>
            <a:r>
              <a:t>distributed quantum compilers is genuinely treacherous — two tools can both report</a:t>
            </a:r>
          </a:p>
          <a:p>
            <a:r>
              <a:t>"EPR pairs" and be counting different things.</a:t>
            </a:r>
          </a:p>
          <a:p/>
          <a:p>
            <a:r>
              <a:t>pytket-dqc is the main example. It's an excellent tool, but it uses gate teleportation</a:t>
            </a:r>
          </a:p>
          <a:p>
            <a:r>
              <a:t>with hypergraph partitioning, so one pair can serve a whole group of gates. On its own</a:t>
            </a:r>
          </a:p>
          <a:p>
            <a:r>
              <a:t>terms we beat it comfortably at twenty-five and thirty-six qubits and it beats us by</a:t>
            </a:r>
          </a:p>
          <a:p>
            <a:r>
              <a:t>fifteen percent at sixty-four.</a:t>
            </a:r>
          </a:p>
          <a:p/>
          <a:p>
            <a:r>
              <a:t>Two assumptions sit underneath that number. First, its input network allows unbounded</a:t>
            </a:r>
          </a:p>
          <a:p>
            <a:r>
              <a:t>live link qubits per chip — and when we checked, four of six, two of six, and at least</a:t>
            </a:r>
          </a:p>
          <a:p>
            <a:r>
              <a:t>six of nine of its distributions provably cannot be materialised within the</a:t>
            </a:r>
          </a:p>
          <a:p>
            <a:r>
              <a:t>communication capacity the device actually has. One twenty-five-qubit case wants twenty</a:t>
            </a:r>
          </a:p>
          <a:p>
            <a:r>
              <a:t>simultaneous link qubits at a chip that provides two. Second, its count assumes</a:t>
            </a:r>
          </a:p>
          <a:p>
            <a:r>
              <a:t>entanglement surviving more than ten gates. Re-score the same distributions with a cap</a:t>
            </a:r>
          </a:p>
          <a:p>
            <a:r>
              <a:t>of three gates per pair and the sixty-four qubit result flips to a sixty percent</a:t>
            </a:r>
          </a:p>
          <a:p>
            <a:r>
              <a:t>advantage for us.</a:t>
            </a:r>
          </a:p>
          <a:p/>
          <a:p>
            <a:r>
              <a:t>That's not a gotcha — it's the honest statement that the comparison depends on what</a:t>
            </a:r>
          </a:p>
          <a:p>
            <a:r>
              <a:t>hardware you assume.</a:t>
            </a:r>
          </a:p>
          <a:p/>
          <a:p>
            <a:r>
              <a:t>And the right-hand column is what we don't claim. We minimise one resource. The output</a:t>
            </a:r>
          </a:p>
          <a:p>
            <a:r>
              <a:t>isn't scheduled, so a lower EPR count doesn't automatically give a shorter or more</a:t>
            </a:r>
          </a:p>
          <a:p>
            <a:r>
              <a:t>accurate run. That's the next piece of work, not a result we're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take away.</a:t>
            </a:r>
          </a:p>
          <a:p/>
          <a:p>
            <a:r>
              <a:t>First, the design principle: price the whole move rather than the hop. A cross-chip</a:t>
            </a:r>
          </a:p>
          <a:p>
            <a:r>
              <a:t>transfer is not a SWAP on an expensive edge — it is a macro-action with a setup cost,</a:t>
            </a:r>
          </a:p>
          <a:p>
            <a:r>
              <a:t>a direction, and a permanent consequence for how full the destination is. Model it as</a:t>
            </a:r>
          </a:p>
          <a:p>
            <a:r>
              <a:t>one thing and score it as one thing.</a:t>
            </a:r>
          </a:p>
          <a:p/>
          <a:p>
            <a:r>
              <a:t>Second, the structural point, which I think generalises past this paper: keep ranking</a:t>
            </a:r>
          </a:p>
          <a:p>
            <a:r>
              <a:t>separate from legality. Soft penalties rank; hard admission tests decide what is</a:t>
            </a:r>
          </a:p>
          <a:p>
            <a:r>
              <a:t>allowed. Conflating them is what makes greedy routers fail unpredictably at</a:t>
            </a:r>
          </a:p>
          <a:p>
            <a:r>
              <a:t>saturation, and separating them is what let us prove this one always finishes.</a:t>
            </a:r>
          </a:p>
          <a:p/>
          <a:p>
            <a:r>
              <a:t>Third, it pays: roughly half the entanglement of the state of the art, every instance</a:t>
            </a:r>
          </a:p>
          <a:p>
            <a:r>
              <a:t>routed, and it scales to hundreds of qubits in tens of seconds.</a:t>
            </a:r>
          </a:p>
          <a:p/>
          <a:p>
            <a:r>
              <a:t>What's next is joint selection — deciding per-move whether to move the qubit or move</a:t>
            </a:r>
          </a:p>
          <a:p>
            <a:r>
              <a:t>the gate — and then scheduling the result, because EPR count is not the same as</a:t>
            </a:r>
          </a:p>
          <a:p>
            <a:r>
              <a:t>wall-clock time or fidelity.</a:t>
            </a:r>
          </a:p>
          <a:p/>
          <a:p>
            <a:r>
              <a:t>Everything is on GitHub: the implementation, the benchmark circuits, the per-circuit</a:t>
            </a:r>
          </a:p>
          <a:p>
            <a:r>
              <a:t>results, and the appendices with the full proof.</a:t>
            </a:r>
          </a:p>
          <a:p/>
          <a:p>
            <a:r>
              <a:t>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148132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60">
                <a:solidFill>
                  <a:srgbClr val="5FCFC2"/>
                </a:solidFill>
                <a:latin typeface="Calibri"/>
              </a:rPr>
              <a:t>IEEE TRANSACTIONS ON CAD  ·  UNDER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7" y="1883664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mbria"/>
              </a:rPr>
              <a:t>dSABRE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7" y="2999232"/>
            <a:ext cx="7223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0" i="0">
                <a:solidFill>
                  <a:srgbClr val="C9D2E4"/>
                </a:solidFill>
                <a:latin typeface="Cambria"/>
              </a:rPr>
              <a:t>Compiling quantum programs for machines
made of many small quantum chips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484632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Sanjiang Li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94A0BA"/>
                </a:solidFill>
                <a:latin typeface="Calibri"/>
              </a:rPr>
              <a:t>Centre for Quantum Software and Information,
University of Technology Sydney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21031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8304E"/>
          </a:solidFill>
          <a:ln w="12700">
            <a:solidFill>
              <a:srgbClr val="2C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93224" y="21031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8304E"/>
          </a:solidFill>
          <a:ln w="12700">
            <a:solidFill>
              <a:srgbClr val="2C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3928" y="21031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8304E"/>
          </a:solidFill>
          <a:ln w="12700">
            <a:solidFill>
              <a:srgbClr val="2C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2520" y="3163824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8304E"/>
          </a:solidFill>
          <a:ln w="12700">
            <a:solidFill>
              <a:srgbClr val="2C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93224" y="3163824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8304E"/>
          </a:solidFill>
          <a:ln w="12700">
            <a:solidFill>
              <a:srgbClr val="2C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53928" y="3163824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8304E"/>
          </a:solidFill>
          <a:ln w="12700">
            <a:solidFill>
              <a:srgbClr val="2C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153144" y="2523744"/>
            <a:ext cx="1060704" cy="0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13848" y="2523744"/>
            <a:ext cx="1060704" cy="0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53144" y="3584448"/>
            <a:ext cx="1060704" cy="0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13848" y="3584448"/>
            <a:ext cx="1060704" cy="0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53144" y="2523744"/>
            <a:ext cx="0" cy="1060704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74552" y="2523744"/>
            <a:ext cx="0" cy="1060704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13848" y="2523744"/>
            <a:ext cx="0" cy="1060704"/>
          </a:xfrm>
          <a:prstGeom prst="line">
            <a:avLst/>
          </a:prstGeom>
          <a:ln w="19050">
            <a:solidFill>
              <a:srgbClr val="2E8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075420" y="2446020"/>
            <a:ext cx="155448" cy="15544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6124" y="2446020"/>
            <a:ext cx="155448" cy="15544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96828" y="2446020"/>
            <a:ext cx="155448" cy="15544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75420" y="3506724"/>
            <a:ext cx="155448" cy="15544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6124" y="3506724"/>
            <a:ext cx="155448" cy="15544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96828" y="3506724"/>
            <a:ext cx="155448" cy="15544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4443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6B788F"/>
                </a:solidFill>
                <a:latin typeface="Calibri"/>
              </a:rPr>
              <a:t>six chips, seven entanglement links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Three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3502152" cy="321868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1883664"/>
            <a:ext cx="566928" cy="56692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15184"/>
            <a:ext cx="2880360" cy="15179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0E1730"/>
                </a:solidFill>
                <a:latin typeface="Cambria"/>
              </a:rPr>
              <a:t>What is a quantum computer, and why can't we just build a big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261104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Qubits, circuits, and the reason chips stay small.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572768"/>
            <a:ext cx="3502152" cy="321868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663440" y="1883664"/>
            <a:ext cx="566928" cy="56692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15184"/>
            <a:ext cx="2880360" cy="15179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0E1730"/>
                </a:solidFill>
                <a:latin typeface="Cambria"/>
              </a:rPr>
              <a:t>What is teleportation, and why does it cost something?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61104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Entanglement as fuel: slow to make, noisy, and used 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572768"/>
            <a:ext cx="3502152" cy="321868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449055" y="1883664"/>
            <a:ext cx="566928" cy="56692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5" y="2615184"/>
            <a:ext cx="2880360" cy="15179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0E1730"/>
                </a:solidFill>
                <a:latin typeface="Cambria"/>
              </a:rPr>
              <a:t>How should a compiler
spend that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4261104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This is the research contribution — and it halves the bill.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47488"/>
            <a:ext cx="11057839" cy="932688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C6259"/>
                </a:solidFill>
                <a:latin typeface="Calibri"/>
              </a:rPr>
              <a:t>The short version:  a cross-chip move is not just an expensive local move, and pricing it properly is worth about half the entanglement budget.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BACKGROUND  · 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Bits, and what a qubit does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91056"/>
            <a:ext cx="50749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500" b="0" i="0">
                <a:solidFill>
                  <a:srgbClr val="0E1730"/>
                </a:solidFill>
                <a:latin typeface="Calibri"/>
              </a:rPr>
              <a:t>A classical bit is 0 or 1. That's the whole story, and it is why classical computers are so reliable: a bit that drifts slightly is snapped back to the nearest of two values.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</a:pPr>
            <a:r>
              <a:rPr sz="1500" b="0" i="0">
                <a:solidFill>
                  <a:srgbClr val="0E1730"/>
                </a:solidFill>
                <a:latin typeface="Calibri"/>
              </a:rPr>
              <a:t>A qubit is not restricted to those two values, and a group of qubits can hold correlations that no group of classical bits can reproduce. That is where the computational power comes from — and also where all the difficulty comes from.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0E1730"/>
                </a:solidFill>
                <a:latin typeface="Calibri"/>
              </a:rPr>
              <a:t>And you cannot peek to check. Looking at a qubit collapses it to a plain 0 or 1, so a compiler gets no feedback from the machine — it has to be right the first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46320"/>
            <a:ext cx="5074920" cy="1152144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5065776"/>
            <a:ext cx="445312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8E322B"/>
                </a:solidFill>
                <a:latin typeface="Calibri"/>
              </a:rPr>
              <a:t>Why this matters for a compiler:  every operation is delicate, so the fewer operations we run, the better the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91056"/>
            <a:ext cx="5632704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281928" y="1865376"/>
            <a:ext cx="182880" cy="182880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810512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E1730"/>
                </a:solidFill>
                <a:latin typeface="Cambria"/>
              </a:rPr>
              <a:t>Superposition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2824" y="2157984"/>
            <a:ext cx="47183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A qubit holds a blend of 0 and 1 at once. Ask it for an answer and it gives you one of them, with a probability set by the blend.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099815"/>
            <a:ext cx="5632704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281928" y="3374135"/>
            <a:ext cx="182880" cy="182880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3319272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E1730"/>
                </a:solidFill>
                <a:latin typeface="Cambria"/>
              </a:rPr>
              <a:t>Entanglement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3666744"/>
            <a:ext cx="47183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Two qubits can share a state that neither one owns on its own. Measuring one instantly constrains the other, however far apart they 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608576"/>
            <a:ext cx="5632704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281928" y="4882896"/>
            <a:ext cx="182880" cy="182880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4828032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E1730"/>
                </a:solidFill>
                <a:latin typeface="Cambria"/>
              </a:rPr>
              <a:t>Fragility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5175504"/>
            <a:ext cx="47183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Reading a qubit destroys what it held, and an unknown qubit cannot be copied. Every gate you run adds a little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BACKGROUND  · 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A quantum program is a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41605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Wires are qubits,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boxes are gates. Time runs left to right.</a:t>
            </a:r>
          </a:p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Two kinds of gate are enough.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Single-qubit rotations, plus one two-qubit gate called CX, can express any quantum computation.</a:t>
            </a:r>
          </a:p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The compiler doesn't see a picture.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It sees a dependency graph: gate g₃ cannot run until g₁ and g₂ are done, because they share qubits.</a:t>
            </a:r>
          </a:p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The front layer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is the set of gates with nothing left to wait for — what could run right now. Everything in this talk is steered by it.</a:t>
            </a:r>
          </a:p>
        </p:txBody>
      </p:sp>
      <p:pic>
        <p:nvPicPr>
          <p:cNvPr id="5" name="Picture 4" descr="da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19"/>
            <a:ext cx="6675120" cy="3239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4920" y="5314924"/>
            <a:ext cx="6675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The same three-gate program, twice: as a circuit diagram, and as the dependency graph a router actually works on. The two blue gates are the front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BACKGROUND  · 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The catch: qubits can only talk to their neighbours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86178"/>
                </a:solidFill>
                <a:latin typeface="Calibri"/>
              </a:rPr>
              <a:t>On real hardware a two-qubit gate only works if its two qubits sit next to each other. Usually they don't.</a:t>
            </a:r>
          </a:p>
        </p:txBody>
      </p:sp>
      <p:pic>
        <p:nvPicPr>
          <p:cNvPr id="5" name="Picture 4" descr="routing_one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1874519"/>
            <a:ext cx="8138160" cy="37449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42432"/>
            <a:ext cx="11057839" cy="786384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5907024"/>
            <a:ext cx="103263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C6259"/>
                </a:solidFill>
                <a:latin typeface="Calibri"/>
              </a:rPr>
              <a:t>This is the qubit routing problem — and it is pure overhead. None of those SWAPs is part of the program the user wrote.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BACKGROUND  · 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SABRE: the routing heuristic everyone 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55321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It is the default in Qiskit,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IBM's compiler — so it is what most quantum programs in the world actually go through.</a:t>
            </a:r>
          </a:p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The rule is simple.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Look at the gates that are ready now. Of all the SWAPs you could do, pick the one that brings those gates' qubits closest together.</a:t>
            </a:r>
          </a:p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With a little lookahead.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Also glance at the gates coming up next, at a discount, so the router doesn't walk itself into a corner.</a:t>
            </a:r>
          </a:p>
          <a:p>
            <a:pPr marL="182880" indent="-182880">
              <a:lnSpc>
                <a:spcPct val="112000"/>
              </a:lnSpc>
              <a:spcAft>
                <a:spcPts val="12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It is not optimal,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and it does not try to be. It is fast, predictable, and good enough that production toolchains ship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64208"/>
            <a:ext cx="5129784" cy="2798064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39712" y="190195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5FCFC2"/>
                </a:solidFill>
                <a:latin typeface="Calibri"/>
              </a:rPr>
              <a:t>THE SCORE, IN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9712" y="2304288"/>
            <a:ext cx="4480560" cy="2084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how much closer this move leaves
the gates ready now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500" b="0" i="0">
                <a:solidFill>
                  <a:srgbClr val="9FB3CE"/>
                </a:solidFill>
                <a:latin typeface="Cambria"/>
              </a:rPr>
              <a:t>+   ¼  ×   the same, for the gates
              coming up next</a:t>
            </a:r>
          </a:p>
          <a:p>
            <a:pPr algn="l"/>
            <a:r>
              <a:rPr sz="1250" b="0" i="1">
                <a:solidFill>
                  <a:srgbClr val="5FCFC2"/>
                </a:solidFill>
                <a:latin typeface="Calibri"/>
              </a:rPr>
              <a:t>lowest score wins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645152"/>
            <a:ext cx="5129784" cy="157276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39712" y="4882896"/>
            <a:ext cx="44805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0E1730"/>
                </a:solidFill>
                <a:latin typeface="Cambria"/>
              </a:rPr>
              <a:t>The question this paper asks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586178"/>
                </a:solidFill>
                <a:latin typeface="Calibri"/>
              </a:rPr>
              <a:t>What does that score have to become when the machine is no longer one chip, but several?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BACKGROUND  · 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Why quantum computers are going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3749039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3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Yield.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The bigger the chip, the likelier some qubit on it is bad — and the whole chip goes in the bin.</a:t>
            </a:r>
          </a:p>
          <a:p>
            <a:pPr marL="182880" indent="-182880">
              <a:lnSpc>
                <a:spcPct val="112000"/>
              </a:lnSpc>
              <a:spcAft>
                <a:spcPts val="13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Crosstalk.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Packing more qubits together makes them interfere with each other more.</a:t>
            </a:r>
          </a:p>
          <a:p>
            <a:pPr marL="182880" indent="-182880">
              <a:lnSpc>
                <a:spcPct val="112000"/>
              </a:lnSpc>
              <a:spcAft>
                <a:spcPts val="13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Wiring and cooling. </a:t>
            </a:r>
            <a:r>
              <a:rPr sz="1450" b="0" i="0">
                <a:solidFill>
                  <a:srgbClr val="0E1730"/>
                </a:solidFill>
                <a:latin typeface="Calibri"/>
              </a:rPr>
              <a:t>Every qubit needs control lines running into a dilution refrigerator. There is only so much room.</a:t>
            </a:r>
          </a:p>
          <a:p>
            <a:pPr marL="182880" indent="-182880">
              <a:lnSpc>
                <a:spcPct val="112000"/>
              </a:lnSpc>
              <a:spcAft>
                <a:spcPts val="1300"/>
              </a:spcAft>
              <a:buClr>
                <a:srgbClr val="12867E"/>
              </a:buClr>
              <a:buFont typeface="Arial"/>
              <a:buChar char="•"/>
            </a:pPr>
            <a:r>
              <a:rPr sz="1450" b="1" i="0">
                <a:solidFill>
                  <a:srgbClr val="0E1730"/>
                </a:solidFill>
                <a:latin typeface="Calibri"/>
              </a:rPr>
              <a:t>So: build small chips and link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358384"/>
            <a:ext cx="3749039" cy="1170432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5541264"/>
            <a:ext cx="316382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8E322B"/>
                </a:solidFill>
                <a:latin typeface="Calibri"/>
              </a:rPr>
              <a:t>The links are made of entanglement — and that is the resource this whole talk is about.</a:t>
            </a:r>
          </a:p>
        </p:txBody>
      </p:sp>
      <p:pic>
        <p:nvPicPr>
          <p:cNvPr id="7" name="Picture 6" descr="archit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48256"/>
            <a:ext cx="7086600" cy="3482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5768495"/>
            <a:ext cx="70866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The two devices used in the experiments. Each core is a small chip of 16 qubits. The teal qubits are communication ports — the only places an entanglement link can attach, and otherwise ordinary qubits that can hold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TELEPORTATION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The currency: an EPR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0" i="0">
                <a:solidFill>
                  <a:srgbClr val="0E1730"/>
                </a:solidFill>
                <a:latin typeface="Calibri"/>
              </a:rPr>
              <a:t>An EPR pair is two qubits, prepared together so that they are entangled, and then separated — one left in each of two chips.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0E1730"/>
                </a:solidFill>
                <a:latin typeface="Calibri"/>
              </a:rPr>
              <a:t>On its own it carries no information. It is a resource: a one-shot ticket that lets the two chips do something they otherwise could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675887"/>
            <a:ext cx="5212080" cy="2212848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3931920"/>
            <a:ext cx="4443984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1 EPR pair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500" b="0" i="0">
                <a:solidFill>
                  <a:srgbClr val="9FB3CE"/>
                </a:solidFill>
                <a:latin typeface="Calibri"/>
              </a:rPr>
              <a:t>= one qubit moved across one link. A longer trip costs one pair per hop.</a:t>
            </a:r>
          </a:p>
          <a:p>
            <a:pPr algn="l">
              <a:lnSpc>
                <a:spcPct val="114000"/>
              </a:lnSpc>
            </a:pPr>
            <a:r>
              <a:rPr sz="1300" b="0" i="1">
                <a:solidFill>
                  <a:srgbClr val="5FCFC2"/>
                </a:solidFill>
                <a:latin typeface="Calibri"/>
              </a:rPr>
              <a:t>That is the unit this paper counts, and the unit it is trying to spend less 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5936" y="1645920"/>
            <a:ext cx="5276088" cy="129844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75120" y="1865376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C6259"/>
                </a:solidFill>
                <a:latin typeface="Cambria"/>
              </a:rPr>
              <a:t>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31136"/>
            <a:ext cx="4617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Generating a good pair takes far longer than running a local gate. The link, not the processor, sets the 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3127248"/>
            <a:ext cx="5276088" cy="129844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0" y="3346704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C6259"/>
                </a:solidFill>
                <a:latin typeface="Cambria"/>
              </a:rPr>
              <a:t>Noisy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12463"/>
            <a:ext cx="4617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It is the least reliable thing on the machine — pairs often have to be made repeatedly and distilled.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4608576"/>
            <a:ext cx="5276088" cy="129844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75120" y="4828032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C6259"/>
                </a:solidFill>
                <a:latin typeface="Cambria"/>
              </a:rPr>
              <a:t>Rate-limited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193792"/>
            <a:ext cx="4617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A link produces pairs at a fixed rate. You cannot buy your way out of a bad routing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6089904"/>
            <a:ext cx="5276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0E1730"/>
                </a:solidFill>
                <a:latin typeface="Calibri"/>
              </a:rPr>
              <a:t>So the compiler's objective: use as few EPR pairs as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TELEPORTATION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How a qubit actually crosses between chips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86178"/>
                </a:solidFill>
                <a:latin typeface="Calibri"/>
              </a:rPr>
              <a:t>A qubit cannot be copied, and it cannot be put on a wire. Teleportation is the protocol that moves one anyway — by spending an EPR pair.</a:t>
            </a:r>
          </a:p>
        </p:txBody>
      </p:sp>
      <p:pic>
        <p:nvPicPr>
          <p:cNvPr id="5" name="Picture 4" descr="teleport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75104"/>
            <a:ext cx="10991088" cy="1781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031350"/>
            <a:ext cx="331012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86178"/>
                </a:solidFill>
                <a:latin typeface="Calibri"/>
              </a:rPr>
              <a:t>Two entangled qubits are made and separated, one parked in each chip. This is the fuel, and it is the expensive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4031350"/>
            <a:ext cx="331012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86178"/>
                </a:solidFill>
                <a:latin typeface="Calibri"/>
              </a:rPr>
              <a:t>The sender measures the travelling qubit together with its half of the pair. The original is destroyed, and two ordinary bits go over a normal wire.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031350"/>
            <a:ext cx="331012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86178"/>
                </a:solidFill>
                <a:latin typeface="Calibri"/>
              </a:rPr>
              <a:t>Those two bits say which small correction to apply. The state is now in core B — moved, never copied.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431536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5596128"/>
            <a:ext cx="1032631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C6259"/>
                </a:solidFill>
                <a:latin typeface="Calibri"/>
              </a:rPr>
              <a:t>No faster-than-light anything:  the two classical bits have to arrive before the state can be rebuilt — and because the original is destroyed, no copy is ever made.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TELEPORTATION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Two ways to spend a pair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5504688" cy="2871216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883664"/>
            <a:ext cx="47365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0C6259"/>
                </a:solidFill>
                <a:latin typeface="Calibri"/>
              </a:rPr>
              <a:t>TELEDATA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286000"/>
            <a:ext cx="473659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E1730"/>
                </a:solidFill>
                <a:latin typeface="Cambria"/>
              </a:rPr>
              <a:t>Move the qubit.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i="0">
                <a:solidFill>
                  <a:srgbClr val="0E1730"/>
                </a:solidFill>
                <a:latin typeface="Calibri"/>
              </a:rPr>
              <a:t>The pair is consumed immediately and the qubit now lives in the other chip. Every gate it needs after that is local — so one pair can pay for a long run of work.</a:t>
            </a:r>
          </a:p>
          <a:p>
            <a:pPr algn="l"/>
            <a:r>
              <a:rPr sz="1400" b="1" i="1">
                <a:solidFill>
                  <a:srgbClr val="0C6259"/>
                </a:solidFill>
                <a:latin typeface="Calibri"/>
              </a:rPr>
              <a:t>This is what dSABRE optimises.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5936" y="1627632"/>
            <a:ext cx="5504688" cy="2871216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29983" y="1883664"/>
            <a:ext cx="47365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40">
                <a:solidFill>
                  <a:srgbClr val="586178"/>
                </a:solidFill>
                <a:latin typeface="Calibri"/>
              </a:rPr>
              <a:t>TELEGATE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9983" y="2286000"/>
            <a:ext cx="473659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E1730"/>
                </a:solidFill>
                <a:latin typeface="Cambria"/>
              </a:rPr>
              <a:t>Move the gate.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i="0">
                <a:solidFill>
                  <a:srgbClr val="0E1730"/>
                </a:solidFill>
                <a:latin typeface="Calibri"/>
              </a:rPr>
              <a:t>Run a two-qubit gate remotely, leaving both qubits at home. One pair can serve several gates at once — but only if the entanglement survives that long, and the chip has spare memory to hold it.</a:t>
            </a:r>
          </a:p>
          <a:p>
            <a:pPr algn="l"/>
            <a:r>
              <a:rPr sz="1400" b="1" i="1">
                <a:solidFill>
                  <a:srgbClr val="586178"/>
                </a:solidFill>
                <a:latin typeface="Calibri"/>
              </a:rPr>
              <a:t>A different problem: it needs gate grouping.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754880"/>
            <a:ext cx="11057839" cy="1463040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" y="4974336"/>
            <a:ext cx="10253167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5FCFC2"/>
                </a:solidFill>
                <a:latin typeface="Cambria"/>
              </a:rPr>
              <a:t>Why teledata, and not both?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D2E4"/>
                </a:solidFill>
                <a:latin typeface="Calibri"/>
              </a:rPr>
              <a:t>Measured on the 64-qubit suite: one teledata move buys that qubit a residence in its new chip serving 15.75 of its two-qubit gates on average. An ungrouped telegate serves exactly one. Implemented and allowed to compete, telegate cost 93.5% more EPR pairs — it only pays in grouped form, which is a separate research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A teleport is not just an expensive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86178"/>
                </a:solidFill>
                <a:latin typeface="Calibri"/>
              </a:rPr>
              <a:t>The tempting shortcut is to reuse SABRE unchanged and simply give cross-chip edges a bigger weight. That gets the price right and the physics wrong.</a:t>
            </a:r>
          </a:p>
        </p:txBody>
      </p:sp>
      <p:pic>
        <p:nvPicPr>
          <p:cNvPr id="5" name="Picture 4" descr="swap_vs_t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66543"/>
            <a:ext cx="10241280" cy="35474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24144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5888736"/>
            <a:ext cx="1032631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0C6259"/>
                </a:solidFill>
                <a:latin typeface="Calibri"/>
              </a:rPr>
              <a:t>A SWAP is symmetric and changes nothing about how full a chip is. A teleport is one-way, needs staging at a port first, and permanently consumes a seat. Three differences, all invisible to an edge weight.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And a full chip is a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35021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1901952"/>
            <a:ext cx="530352" cy="530352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334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730"/>
                </a:solidFill>
                <a:latin typeface="Cambria"/>
              </a:rPr>
              <a:t>A chip fills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054096"/>
            <a:ext cx="2880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Every arriving qubit takes a seat. Nothing hands it back, because teleports are one-way.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9372" y="2761488"/>
            <a:ext cx="182880" cy="201168"/>
          </a:xfrm>
          <a:prstGeom prst="right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2544" y="1627632"/>
            <a:ext cx="35021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63440" y="1901952"/>
            <a:ext cx="530352" cy="530352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334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730"/>
                </a:solidFill>
                <a:latin typeface="Cambria"/>
              </a:rPr>
              <a:t>Its port gets occupied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54096"/>
            <a:ext cx="2880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With no free seats, a data qubit ends up parked on the communication port — the only exit.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4988" y="2761488"/>
            <a:ext cx="182880" cy="201168"/>
          </a:xfrm>
          <a:prstGeom prst="right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59" y="1627632"/>
            <a:ext cx="35021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449055" y="1901952"/>
            <a:ext cx="530352" cy="530352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26334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730"/>
                </a:solidFill>
                <a:latin typeface="Cambria"/>
              </a:rPr>
              <a:t>Now nothing can leave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5" y="3054096"/>
            <a:ext cx="2880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To free the port you must move its occupant somewhere, and there is nowhere. The route is stuck with gates still waiting.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43984"/>
            <a:ext cx="11057839" cy="1042415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45152"/>
            <a:ext cx="10253167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 i="0">
                <a:solidFill>
                  <a:srgbClr val="8E322B"/>
                </a:solidFill>
                <a:latin typeface="Calibri"/>
              </a:rPr>
              <a:t>This is a real failure mode, not a hypothetical. TeleSABRE — the state-of-the-art router this work compares against — reports the same problem and leaves a fix to future work. It returns no answer at all on 5 of the 45 instances evaluated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05856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0E1730"/>
                </a:solidFill>
                <a:latin typeface="Cambria"/>
              </a:rPr>
              <a:t>So a distributed router needs two things a single-chip router never does:  a sense of how full each chip is while it decides, and a way out when it has painted itself into a corner.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DSABRE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Score the whole move, as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86178"/>
                </a:solidFill>
                <a:latin typeface="Calibri"/>
              </a:rPr>
              <a:t>dSABRE treats “shuffle to a port, evict whoever is on it, teleport” as a single macro-action and gives it one score. Lower is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75104"/>
            <a:ext cx="3502152" cy="248716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212848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0E1730"/>
                </a:solidFill>
                <a:latin typeface="Cambria"/>
              </a:rPr>
              <a:t>what it costs
to set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28437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The local SWAPs needed to walk the qubit to a port, plus the SWAPs needed to clear both ports. An occupied port is priced, not forbidden.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7368" y="3017520"/>
            <a:ext cx="246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B9C0CC"/>
                </a:solidFill>
                <a:latin typeface="Calibr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975104"/>
            <a:ext cx="3502152" cy="248716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81728" y="2212848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0E1730"/>
                </a:solidFill>
                <a:latin typeface="Cambria"/>
              </a:rPr>
              <a:t>what it costs
in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255264"/>
            <a:ext cx="28437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A penalty that grows as the destination chip runs low on free seats. It makes a crowded landing site unattractive without banning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3017520"/>
            <a:ext cx="246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B9C0CC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975104"/>
            <a:ext cx="3502152" cy="2487168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67343" y="2212848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0E1730"/>
                </a:solidFill>
                <a:latin typeface="Cambria"/>
              </a:rPr>
              <a:t>what it buys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3" y="3255264"/>
            <a:ext cx="28437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How much closer the move leaves the waiting gate — plus a lookahead over gates coming up, discounted by how far ahead they 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3440"/>
            <a:ext cx="11057839" cy="1737360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7552" y="4864608"/>
            <a:ext cx="10216591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The part that makes it work: capacity enters twice, and the two are kept apart.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C9D2E4"/>
                </a:solidFill>
                <a:latin typeface="Calibri"/>
              </a:rPr>
              <a:t>The penalty above ranks candidate moves — it can be outvoted by a large enough gain. Separately, a hard legality floor decides which moves are offered at all: no teleport is even generated unless the destination has at least two free seats. A weight can be outvoted; an admission test cannot. That separation is what turns a heuristic into something with a completion guarantee.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DSABRE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One decision, worked through</a:t>
            </a:r>
          </a:p>
        </p:txBody>
      </p:sp>
      <p:pic>
        <p:nvPicPr>
          <p:cNvPr id="4" name="Picture 3" descr="teleport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00784"/>
            <a:ext cx="5989320" cy="3589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455144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A gate is pending between q₁ (blue, in C₁) and q₂ (red, in C₅). Three links leave C₁. Which one?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76288" y="1755648"/>
          <a:ext cx="47548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528"/>
                <a:gridCol w="749808"/>
                <a:gridCol w="658368"/>
                <a:gridCol w="694944"/>
                <a:gridCol w="71323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5861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586178"/>
                          </a:solidFill>
                          <a:latin typeface="Calibri"/>
                        </a:rPr>
                        <a:t>sets up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586178"/>
                          </a:solidFill>
                          <a:latin typeface="Calibri"/>
                        </a:rPr>
                        <a:t>room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586178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586178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C6259"/>
                          </a:solidFill>
                          <a:latin typeface="Calibri"/>
                        </a:rPr>
                        <a:t>A  → C₂, towards q₂</a:t>
                      </a:r>
                    </a:p>
                  </a:txBody>
                  <a:tcPr marL="64008" marR="64008" marT="27432" marB="27432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C625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C625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C6259"/>
                          </a:solidFill>
                          <a:latin typeface="Calibri"/>
                        </a:rPr>
                        <a:t>−12</a:t>
                      </a:r>
                    </a:p>
                  </a:txBody>
                  <a:tcPr marL="64008" marR="64008" marT="27432" marB="27432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C6259"/>
                          </a:solidFill>
                          <a:latin typeface="Calibri"/>
                        </a:rPr>
                        <a:t>−11</a:t>
                      </a:r>
                    </a:p>
                  </a:txBody>
                  <a:tcPr marL="64008" marR="64008" marT="27432" marB="27432" anchor="ctr">
                    <a:solidFill>
                      <a:srgbClr val="E7F2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B  → C₀, away from q₂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+11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+13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C  → C₄, towards q₂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−12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E1730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76288" y="3675887"/>
            <a:ext cx="4754880" cy="2487168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05472" y="3895344"/>
            <a:ext cx="4096512" cy="2066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 wins.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C9D2E4"/>
                </a:solidFill>
                <a:latin typeface="Calibri"/>
              </a:rPr>
              <a:t>It has the cheapest staging and the most progress.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50" b="0" i="0">
                <a:solidFill>
                  <a:srgbClr val="C9D2E4"/>
                </a:solidFill>
                <a:latin typeface="Calibri"/>
              </a:rPr>
              <a:t>B moves the qubit the wrong way, so its progress term turns positive and sinks it.</a:t>
            </a:r>
          </a:p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5FCFC2"/>
                </a:solidFill>
                <a:latin typeface="Calibri"/>
              </a:rPr>
              <a:t>C buys exactly the same progress as A — but it lands in a nearly-full chip. The room term alone reverses the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DSABRE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The routing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64208"/>
            <a:ext cx="41605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2867E"/>
                </a:solidFill>
                <a:latin typeface="Cambria"/>
              </a:rPr>
              <a:t>P1   </a:t>
            </a:r>
            <a:r>
              <a:rPr sz="1450" b="1" i="0">
                <a:solidFill>
                  <a:srgbClr val="0E1730"/>
                </a:solidFill>
                <a:latin typeface="Calibri"/>
              </a:rPr>
              <a:t>Run everything that's ready.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586178"/>
                </a:solidFill>
                <a:latin typeface="Calibri"/>
              </a:rPr>
              <a:t>Drain the front layer of every gate that can already execute.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2867E"/>
                </a:solidFill>
                <a:latin typeface="Cambria"/>
              </a:rPr>
              <a:t>P2   </a:t>
            </a:r>
            <a:r>
              <a:rPr sz="1450" b="1" i="0">
                <a:solidFill>
                  <a:srgbClr val="0E1730"/>
                </a:solidFill>
                <a:latin typeface="Calibri"/>
              </a:rPr>
              <a:t>Sort what's left.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586178"/>
                </a:solidFill>
                <a:latin typeface="Calibri"/>
              </a:rPr>
              <a:t>Same-chip gates that just need shuffling, versus gates whose qubits are on different chips.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2867E"/>
                </a:solidFill>
                <a:latin typeface="Cambria"/>
              </a:rPr>
              <a:t>P3   </a:t>
            </a:r>
            <a:r>
              <a:rPr sz="1450" b="1" i="0">
                <a:solidFill>
                  <a:srgbClr val="0E1730"/>
                </a:solidFill>
                <a:latin typeface="Calibri"/>
              </a:rPr>
              <a:t>Local work first.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586178"/>
                </a:solidFill>
                <a:latin typeface="Calibri"/>
              </a:rPr>
              <a:t>A SWAP is always cheaper than an EPR pair, so no teleport is even scored while same-chip work remains. Only then: score the teleports and take the best legal one.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2867E"/>
                </a:solidFill>
                <a:latin typeface="Cambria"/>
              </a:rPr>
              <a:t>P4   </a:t>
            </a:r>
            <a:r>
              <a:rPr sz="1450" b="1" i="0">
                <a:solidFill>
                  <a:srgbClr val="0E1730"/>
                </a:solidFill>
                <a:latin typeface="Calibri"/>
              </a:rPr>
              <a:t>Checkpoint, or recover.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586178"/>
                </a:solidFill>
                <a:latin typeface="Calibri"/>
              </a:rPr>
              <a:t>Every time the circuit gets shorter, save the state. If nothing shrinks for too long, rewind to the last checkpoint and call recovery.</a:t>
            </a:r>
          </a:p>
        </p:txBody>
      </p:sp>
      <p:pic>
        <p:nvPicPr>
          <p:cNvPr id="5" name="Picture 4" descr="flowchart_t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47088"/>
            <a:ext cx="6784848" cy="3373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6048" y="5440412"/>
            <a:ext cx="67848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The loop as implemented. Everything on the right of the diagram is bookkeeping to make sure the router can always back out of a bad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DSABRE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Three rules that make getting stuck impossible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6355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" name="Oval 4"/>
          <p:cNvSpPr/>
          <p:nvPr/>
        </p:nvSpPr>
        <p:spPr>
          <a:xfrm>
            <a:off x="566928" y="1664208"/>
            <a:ext cx="475488" cy="47548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64208"/>
            <a:ext cx="5660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730"/>
                </a:solidFill>
                <a:latin typeface="Cambria"/>
              </a:rPr>
              <a:t>Always leave two seats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084832"/>
            <a:ext cx="5660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86178"/>
                </a:solidFill>
                <a:latin typeface="Calibri"/>
              </a:rPr>
              <a:t>A teleport is offered only if the destination has at least two free seats. One receives the arrival; the other keeps the chip from ever becoming full — so a port can always be cleared.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145536"/>
            <a:ext cx="475488" cy="47548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145536"/>
            <a:ext cx="5660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730"/>
                </a:solidFill>
                <a:latin typeface="Cambria"/>
              </a:rPr>
              <a:t>Start with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566160"/>
            <a:ext cx="5660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86178"/>
                </a:solidFill>
                <a:latin typeface="Calibri"/>
              </a:rPr>
              <a:t>The initial placement reserves spare seats in every chip before routing begins, so the condition holds from the first step rather than being hoped for.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626864"/>
            <a:ext cx="475488" cy="475488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626864"/>
            <a:ext cx="5660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730"/>
                </a:solidFill>
                <a:latin typeface="Cambria"/>
              </a:rPr>
              <a:t>Keep a fire 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047488"/>
            <a:ext cx="5660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86178"/>
                </a:solidFill>
                <a:latin typeface="Calibri"/>
              </a:rPr>
              <a:t>If the ordinary loop stalls anyway, a bounded recovery transaction walks a free seat over from a chip that has one to spare, brings the two waiting qubits together, and runs the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1645920"/>
            <a:ext cx="4297680" cy="2340864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62672" y="1883664"/>
            <a:ext cx="363931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050" b="1" i="0" spc="140">
                <a:solidFill>
                  <a:srgbClr val="5FCFC2"/>
                </a:solidFill>
                <a:latin typeface="Calibri"/>
              </a:rPr>
              <a:t>THEOREM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Under conditions you can check before compiling, dSABRE routes every gate and never aborts.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9FB3CE"/>
                </a:solidFill>
                <a:latin typeface="Calibri"/>
              </a:rPr>
              <a:t>Connected chips, at least four sites each, and a little global slack. The tightest case in the paper has 32 spare seats where 13 suffice.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4169663"/>
            <a:ext cx="4297680" cy="1920240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62672" y="4407408"/>
            <a:ext cx="3639312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C6259"/>
                </a:solidFill>
                <a:latin typeface="Cambria"/>
              </a:rPr>
              <a:t>In practice it's a fire exit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86178"/>
                </a:solidFill>
                <a:latin typeface="Calibri"/>
              </a:rPr>
              <a:t>No reported route at 25–64 qubits uses recovery at all. At 100, 200 and 360 qubits it retires 6, 10 and 66 gates. Across 1074 transactions, no precondition ever failed.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RESULTS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About half the entanglement, everywhere we looked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86178"/>
                </a:solidFill>
                <a:latin typeface="Calibri"/>
              </a:rPr>
              <a:t>Against TeleSABRE, on the same devices, the same 21 benchmark circuits, and the same run budget — best of three seeds for both routers.</a:t>
            </a:r>
          </a:p>
        </p:txBody>
      </p:sp>
      <p:pic>
        <p:nvPicPr>
          <p:cNvPr id="5" name="Picture 4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883664"/>
            <a:ext cx="9509760" cy="38208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97296"/>
            <a:ext cx="11057839" cy="786384"/>
          </a:xfrm>
          <a:prstGeom prst="roundRect">
            <a:avLst>
              <a:gd name="adj" fmla="val 5500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5961888"/>
            <a:ext cx="1032631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0C6259"/>
                </a:solidFill>
                <a:latin typeface="Calibri"/>
              </a:rPr>
              <a:t>Two of these devices are networks of IBM heavy-hex chips — irregular, with dangling qubits and a hub every route must cross. Nothing in dSABRE is tuned for them, and the result 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RESULTS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Not an artefact of averaging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86178"/>
                </a:solidFill>
                <a:latin typeface="Calibri"/>
              </a:rPr>
              <a:t>Every circuit in the 64-qubit suite, both routers, log scale. dSABRE wins on all of them.</a:t>
            </a:r>
          </a:p>
        </p:txBody>
      </p:sp>
      <p:pic>
        <p:nvPicPr>
          <p:cNvPr id="5" name="Picture 4" descr="chart_per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847088"/>
            <a:ext cx="9601200" cy="38036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60720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5925312"/>
            <a:ext cx="1032631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8E322B"/>
                </a:solidFill>
                <a:latin typeface="Calibri"/>
              </a:rPr>
              <a:t>The last column is the sharper result: on Random, TeleSABRE returns no routing at all in any of three attempts. dSABRE completes it with 732 pairs. Fewer pairs is an average; finishing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RESULTS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It keeps working as the machine grows</a:t>
            </a:r>
          </a:p>
        </p:txBody>
      </p:sp>
      <p:pic>
        <p:nvPicPr>
          <p:cNvPr id="4" name="Picture 3" descr="char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408176"/>
            <a:ext cx="9875520" cy="35987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5120640"/>
            <a:ext cx="3502152" cy="124358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5266944"/>
            <a:ext cx="2916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C6259"/>
                </a:solidFill>
                <a:latin typeface="Cambria"/>
              </a:rPr>
              <a:t>48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5669280"/>
            <a:ext cx="2916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to compile a 360-qubit QFT across twenty chips.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5120640"/>
            <a:ext cx="3502152" cy="124358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5266944"/>
            <a:ext cx="2916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C6259"/>
                </a:solidFill>
                <a:latin typeface="Cambria"/>
              </a:rPr>
              <a:t>1.9 s vs 4.7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5669280"/>
            <a:ext cx="2916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geometric-mean compile time at 64 qubits — dSABRE in Python, the baseline a compiled C++ binary.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5120640"/>
            <a:ext cx="3502152" cy="124358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30767" y="5266944"/>
            <a:ext cx="2916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C6259"/>
                </a:solidFill>
                <a:latin typeface="Cambria"/>
              </a:rPr>
              <a:t>≈ 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5669280"/>
            <a:ext cx="2916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586178"/>
                </a:solidFill>
                <a:latin typeface="Calibri"/>
              </a:rPr>
              <a:t>growth in compile time with gate count at a fixed device: fitted exponent 0.97, R² = 0.95.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RESULTS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Which parts are actually doing the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86178"/>
                </a:solidFill>
                <a:latin typeface="Calibri"/>
              </a:rPr>
              <a:t>Remove one component at a time and re-run the whole 64-qubit suite. Longer bar = the component was doing more.</a:t>
            </a:r>
          </a:p>
        </p:txBody>
      </p:sp>
      <p:pic>
        <p:nvPicPr>
          <p:cNvPr id="5" name="Picture 4" descr="char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847088"/>
            <a:ext cx="9509760" cy="37359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42432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5907024"/>
            <a:ext cx="1028974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C9D2E4"/>
                </a:solidFill>
                <a:latin typeface="Calibri"/>
              </a:rPr>
              <a:t>The two capacity mechanisms are substitutes, not separate contributions: either one alone is nearly free, but remove both and the cost almost doubles and two circuits stop finishing. +0.2% and +9.4% become +87.8%.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12867E"/>
                </a:solidFill>
                <a:latin typeface="Calibr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730"/>
                </a:solidFill>
                <a:latin typeface="Cambria"/>
              </a:rPr>
              <a:t>How to read these numbers honestly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5504688" cy="3639312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1865376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586178"/>
                </a:solidFill>
                <a:latin typeface="Calibri"/>
              </a:rPr>
              <a:t>AGAINST pytket-dqc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67712"/>
            <a:ext cx="477316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600" b="1" i="0">
                <a:solidFill>
                  <a:srgbClr val="0E1730"/>
                </a:solidFill>
                <a:latin typeface="Cambria"/>
              </a:rPr>
              <a:t>A different cost model, not a different router.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50" b="0" i="0">
                <a:solidFill>
                  <a:srgbClr val="0E1730"/>
                </a:solidFill>
                <a:latin typeface="Calibri"/>
              </a:rPr>
              <a:t>It uses gate teleportation, so one pair can serve many gates. On its own terms dSABRE wins at 25 and 36 qubits (−56%, −14%) and loses at 64, where dSABRE uses 15% more.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86178"/>
                </a:solidFill>
                <a:latin typeface="Calibri"/>
              </a:rPr>
              <a:t>But its distributions assume unlimited link qubits: 4 of 6, 2 of 6, and at least 6 of 9 of them provably cannot be built on the device we evaluate. And its count assumes entanglement surviving more than ten gates. Cap it at three and the 64-qubit result flips to 59.6% in dSABRE's favour.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5936" y="1627632"/>
            <a:ext cx="5504688" cy="3639312"/>
          </a:xfrm>
          <a:prstGeom prst="roundRect">
            <a:avLst>
              <a:gd name="adj" fmla="val 55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11696" y="1865376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8E322B"/>
                </a:solidFill>
                <a:latin typeface="Calibri"/>
              </a:rPr>
              <a:t>WHAT THIS DOES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67712"/>
            <a:ext cx="477316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600" b="1" i="0">
                <a:solidFill>
                  <a:srgbClr val="0E1730"/>
                </a:solidFill>
                <a:latin typeface="Cambria"/>
              </a:rPr>
              <a:t>One resource, one communication model.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  <a:buClr>
                <a:srgbClr val="C0453B"/>
              </a:buClr>
              <a:buFont typeface="Arial"/>
              <a:buChar char="•"/>
            </a:pPr>
            <a:r>
              <a:rPr sz="1350" b="0" i="0">
                <a:solidFill>
                  <a:srgbClr val="0E1730"/>
                </a:solidFill>
                <a:latin typeface="Calibri"/>
              </a:rPr>
              <a:t>We minimise EPR pairs, not runtime and not output fidelity.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  <a:buClr>
                <a:srgbClr val="C0453B"/>
              </a:buClr>
              <a:buFont typeface="Arial"/>
              <a:buChar char="•"/>
            </a:pPr>
            <a:r>
              <a:rPr sz="1350" b="0" i="0">
                <a:solidFill>
                  <a:srgbClr val="0E1730"/>
                </a:solidFill>
                <a:latin typeface="Calibri"/>
              </a:rPr>
              <a:t>The trace we emit is unscheduled — so fewer pairs does not automatically mean a shorter or more accurate run.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  <a:buClr>
                <a:srgbClr val="C0453B"/>
              </a:buClr>
              <a:buFont typeface="Arial"/>
              <a:buChar char="•"/>
            </a:pPr>
            <a:r>
              <a:rPr sz="1350" b="0" i="0">
                <a:solidFill>
                  <a:srgbClr val="0E1730"/>
                </a:solidFill>
                <a:latin typeface="Calibri"/>
              </a:rPr>
              <a:t>Teledata is not claimed to dominate telegate; grouped telegate is a separate problem we did not solve.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  <a:buClr>
                <a:srgbClr val="C0453B"/>
              </a:buClr>
              <a:buFont typeface="Arial"/>
              <a:buChar char="•"/>
            </a:pPr>
            <a:r>
              <a:rPr sz="1350" b="0" i="0">
                <a:solidFill>
                  <a:srgbClr val="0E1730"/>
                </a:solidFill>
                <a:latin typeface="Calibri"/>
              </a:rPr>
              <a:t>Latency, coherence time and link contention are outside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541264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0E1730"/>
                </a:solidFill>
                <a:latin typeface="Cambria"/>
              </a:rPr>
              <a:t>The controlled TeleSABRE comparison is the result. The cross-model studies are context — they say where a different primitive would win, and under what assumptions.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5FCFC2"/>
                </a:solidFill>
                <a:latin typeface="Calibri"/>
              </a:rPr>
              <a:t>WRAPPING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Three things to take away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645920"/>
            <a:ext cx="493776" cy="493776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Cambria"/>
              </a:rPr>
              <a:t>Price the whole move, not the hop.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066544"/>
            <a:ext cx="7132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3CE"/>
                </a:solidFill>
                <a:latin typeface="Calibri"/>
              </a:rPr>
              <a:t>A cross-chip transfer is a macro-action: staging to a port, evicting whoever sits there, and the seat it permanently consumes. An edge weight cannot express any of that.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907791"/>
            <a:ext cx="493776" cy="493776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916935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Cambria"/>
              </a:rPr>
              <a:t>Keep ranking separate from legality.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328415"/>
            <a:ext cx="7132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3CE"/>
                </a:solidFill>
                <a:latin typeface="Calibri"/>
              </a:rPr>
              <a:t>A penalty can be outvoted; an admission test cannot. That separation is what turns a greedy heuristic into a router with a completion guarantee.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169663"/>
            <a:ext cx="493776" cy="493776"/>
          </a:xfrm>
          <a:prstGeom prst="ellipse">
            <a:avLst/>
          </a:prstGeom>
          <a:solidFill>
            <a:srgbClr val="12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178807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Cambria"/>
              </a:rPr>
              <a:t>It pays, and it scales.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90288"/>
            <a:ext cx="7132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3CE"/>
                </a:solidFill>
                <a:latin typeface="Calibri"/>
              </a:rPr>
              <a:t>49–62% fewer EPR pairs than the state of the art on the main suites, 45 of 45 instances routed against 40, and a 360-qubit circuit compiled in 48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94960"/>
            <a:ext cx="7863840" cy="969264"/>
          </a:xfrm>
          <a:prstGeom prst="roundRect">
            <a:avLst>
              <a:gd name="adj" fmla="val 5500"/>
            </a:avLst>
          </a:prstGeom>
          <a:solidFill>
            <a:srgbClr val="17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5577840"/>
            <a:ext cx="7132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C9D2E4"/>
                </a:solidFill>
                <a:latin typeface="Calibri"/>
              </a:rPr>
              <a:t>Next:  choosing jointly between moving the qubit and moving the gate, then scheduling the result for time and fidelity.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96528" y="1700784"/>
            <a:ext cx="2834640" cy="4736592"/>
          </a:xfrm>
          <a:prstGeom prst="roundRect">
            <a:avLst>
              <a:gd name="adj" fmla="val 5500"/>
            </a:avLst>
          </a:prstGeom>
          <a:solidFill>
            <a:srgbClr val="17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89136" y="2011680"/>
            <a:ext cx="2249424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 i="0" spc="140">
                <a:solidFill>
                  <a:srgbClr val="5FCFC2"/>
                </a:solidFill>
                <a:latin typeface="Calibri"/>
              </a:rPr>
              <a:t>CODE &amp; DATA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github.com
/ebony72
/dsabre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200" b="0" i="0">
                <a:solidFill>
                  <a:srgbClr val="9FB3CE"/>
                </a:solidFill>
                <a:latin typeface="Calibri"/>
              </a:rPr>
              <a:t>Reference implementation, all 45 benchmark circuits, per-circuit result files, and the online appendices with the full proof.</a:t>
            </a:r>
          </a:p>
          <a:p>
            <a:pPr algn="l">
              <a:lnSpc>
                <a:spcPct val="116000"/>
              </a:lnSpc>
            </a:pPr>
            <a:r>
              <a:rPr sz="1350" b="1" i="1">
                <a:solidFill>
                  <a:srgbClr val="5FCFC2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916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A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